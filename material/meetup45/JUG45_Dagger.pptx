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7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</p:sldIdLst>
  <p:sldSz cy="5143500" cx="9144000"/>
  <p:notesSz cx="6858000" cy="9144000"/>
  <p:embeddedFontLst>
    <p:embeddedFont>
      <p:font typeface="Work Sans"/>
      <p:regular r:id="rId38"/>
      <p:bold r:id="rId39"/>
    </p:embeddedFont>
    <p:embeddedFont>
      <p:font typeface="Work Sans Light"/>
      <p:regular r:id="rId40"/>
      <p:bold r:id="rId41"/>
    </p:embeddedFont>
    <p:embeddedFont>
      <p:font typeface="Roboto Mono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Light-regular.fntdata"/><Relationship Id="rId20" Type="http://schemas.openxmlformats.org/officeDocument/2006/relationships/slide" Target="slides/slide16.xml"/><Relationship Id="rId42" Type="http://schemas.openxmlformats.org/officeDocument/2006/relationships/font" Target="fonts/RobotoMono-regular.fntdata"/><Relationship Id="rId41" Type="http://schemas.openxmlformats.org/officeDocument/2006/relationships/font" Target="fonts/WorkSansLight-bold.fntdata"/><Relationship Id="rId22" Type="http://schemas.openxmlformats.org/officeDocument/2006/relationships/slide" Target="slides/slide18.xml"/><Relationship Id="rId44" Type="http://schemas.openxmlformats.org/officeDocument/2006/relationships/font" Target="fonts/RobotoMono-italic.fntdata"/><Relationship Id="rId21" Type="http://schemas.openxmlformats.org/officeDocument/2006/relationships/slide" Target="slides/slide17.xml"/><Relationship Id="rId43" Type="http://schemas.openxmlformats.org/officeDocument/2006/relationships/font" Target="fonts/RobotoMono-bold.fntdata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45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font" Target="fonts/WorkSans-bold.fntdata"/><Relationship Id="rId16" Type="http://schemas.openxmlformats.org/officeDocument/2006/relationships/slide" Target="slides/slide12.xml"/><Relationship Id="rId38" Type="http://schemas.openxmlformats.org/officeDocument/2006/relationships/font" Target="fonts/WorkSans-regular.fntdata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/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4ae965f710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4ae965f710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4ba5d4c5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4ba5d4c5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4c43ed53b5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4c43ed53b5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4ae965f710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4ae965f710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505d2b6a5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505d2b6a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4ba5d4c5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4ba5d4c5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4ba5d4c53b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4ba5d4c53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4f25c8a1a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4f25c8a1a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4f25c8a1a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4f25c8a1a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4ba5d4c53b_0_4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4ba5d4c53b_0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ba5d4c53b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ba5d4c53b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4ba5d4c53b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4ba5d4c53b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4ba5d4c53b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4ba5d4c53b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ba5d4c53b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ba5d4c53b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4ba5d4c53b_0_3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4ba5d4c53b_0_3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4ba5d4c53b_0_3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4ba5d4c53b_0_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4ae965f710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4ae965f71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ba5d4c53b_0_4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4ba5d4c53b_0_4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4ba5d4c53b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4ba5d4c53b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4f25c8a1a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4f25c8a1a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4ba5d4c53b_0_4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4ba5d4c53b_0_4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ae965f71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ae965f71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4ba5d4c53b_0_4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4ba5d4c53b_0_4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4f25c8a1a6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4f25c8a1a6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ba5d4c53b_0_4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ba5d4c53b_0_4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4ba5d4c53b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4ba5d4c53b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4ba5d4c53b_0_5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4ba5d4c53b_0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4ba5d4c53b_0_4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4ba5d4c53b_0_4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4ba5d4c53b_0_6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4ba5d4c53b_0_6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4ba5d4c53b_0_6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4ba5d4c53b_0_6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4ba5d4c53b_0_5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4ba5d4c53b_0_5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505d2b6a5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505d2b6a5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hank You!" showMasterSp="0" type="obj">
  <p:cSld name="OBJEC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/>
          <p:nvPr>
            <p:ph type="title"/>
          </p:nvPr>
        </p:nvSpPr>
        <p:spPr>
          <a:xfrm>
            <a:off x="3249881" y="734992"/>
            <a:ext cx="2644200" cy="4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3000">
                <a:solidFill>
                  <a:srgbClr val="1B1B1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8" name="Google Shape;8;p2"/>
          <p:cNvSpPr/>
          <p:nvPr/>
        </p:nvSpPr>
        <p:spPr>
          <a:xfrm>
            <a:off x="0" y="3238272"/>
            <a:ext cx="9144000" cy="1905000"/>
          </a:xfrm>
          <a:custGeom>
            <a:rect b="b" l="l" r="r" t="t"/>
            <a:pathLst>
              <a:path extrusionOk="0" h="120000" w="120000">
                <a:moveTo>
                  <a:pt x="0" y="119996"/>
                </a:moveTo>
                <a:lnTo>
                  <a:pt x="119999" y="119996"/>
                </a:lnTo>
                <a:lnTo>
                  <a:pt x="119999" y="0"/>
                </a:lnTo>
                <a:lnTo>
                  <a:pt x="0" y="0"/>
                </a:lnTo>
                <a:lnTo>
                  <a:pt x="0" y="119996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2"/>
          <p:cNvSpPr txBox="1"/>
          <p:nvPr/>
        </p:nvSpPr>
        <p:spPr>
          <a:xfrm>
            <a:off x="4021800" y="3463416"/>
            <a:ext cx="1100400" cy="23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TeleSoftas</a:t>
            </a: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2"/>
          <p:cNvSpPr txBox="1"/>
          <p:nvPr/>
        </p:nvSpPr>
        <p:spPr>
          <a:xfrm>
            <a:off x="3730816" y="3991194"/>
            <a:ext cx="1683000" cy="9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26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Savanoriu Ave. 178,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26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LT-44150 Kaunas, Lithuania  Call: +</a:t>
            </a:r>
            <a:r>
              <a:rPr lang="en-GB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370 694 20374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847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Email: info@telesoftas.com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6B15"/>
                </a:solidFill>
                <a:latin typeface="Calibri"/>
                <a:ea typeface="Calibri"/>
                <a:cs typeface="Calibri"/>
                <a:sym typeface="Calibri"/>
              </a:rPr>
              <a:t>www.telesoftas.com</a:t>
            </a:r>
            <a:endParaRPr sz="6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hapter">
  <p:cSld name="CUSTOM_1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/>
        </p:nvSpPr>
        <p:spPr>
          <a:xfrm>
            <a:off x="0" y="0"/>
            <a:ext cx="91440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675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TeleSoftas </a:t>
            </a:r>
            <a:r>
              <a:rPr lang="en-GB" sz="1000">
                <a:solidFill>
                  <a:srgbClr val="1B1B1D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- Empowering innovation</a:t>
            </a:r>
            <a:r>
              <a:rPr b="1" lang="en-GB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	2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0" y="0"/>
            <a:ext cx="9144000" cy="5143200"/>
          </a:xfrm>
          <a:custGeom>
            <a:rect b="b" l="l" r="r" t="t"/>
            <a:pathLst>
              <a:path extrusionOk="0" h="120000" w="120000">
                <a:moveTo>
                  <a:pt x="0" y="119998"/>
                </a:moveTo>
                <a:lnTo>
                  <a:pt x="119999" y="119998"/>
                </a:lnTo>
                <a:lnTo>
                  <a:pt x="119999" y="0"/>
                </a:lnTo>
                <a:lnTo>
                  <a:pt x="0" y="0"/>
                </a:lnTo>
                <a:lnTo>
                  <a:pt x="0" y="119998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3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15" name="Google Shape;15;p3"/>
          <p:cNvSpPr/>
          <p:nvPr/>
        </p:nvSpPr>
        <p:spPr>
          <a:xfrm>
            <a:off x="6133086" y="423090"/>
            <a:ext cx="2600100" cy="2586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613308" y="3151553"/>
            <a:ext cx="45132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3"/>
          <p:cNvSpPr/>
          <p:nvPr/>
        </p:nvSpPr>
        <p:spPr>
          <a:xfrm>
            <a:off x="-37546" y="2120728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hapter 1">
  <p:cSld name="CUSTOM_1_1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/>
        </p:nvSpPr>
        <p:spPr>
          <a:xfrm>
            <a:off x="0" y="0"/>
            <a:ext cx="91440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675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TeleSoftas </a:t>
            </a:r>
            <a:r>
              <a:rPr lang="en-GB" sz="1000">
                <a:solidFill>
                  <a:srgbClr val="1B1B1D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- Empowering innovation</a:t>
            </a:r>
            <a:r>
              <a:rPr b="1" lang="en-GB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	2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9144000" cy="5143200"/>
          </a:xfrm>
          <a:custGeom>
            <a:rect b="b" l="l" r="r" t="t"/>
            <a:pathLst>
              <a:path extrusionOk="0" h="120000" w="120000">
                <a:moveTo>
                  <a:pt x="0" y="119998"/>
                </a:moveTo>
                <a:lnTo>
                  <a:pt x="119999" y="119998"/>
                </a:lnTo>
                <a:lnTo>
                  <a:pt x="119999" y="0"/>
                </a:lnTo>
                <a:lnTo>
                  <a:pt x="0" y="0"/>
                </a:lnTo>
                <a:lnTo>
                  <a:pt x="0" y="119998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1708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3800"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613308" y="3151553"/>
            <a:ext cx="4513200" cy="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ingle column image">
  <p:cSld name="CUSTOM_2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idx="1" type="subTitle"/>
          </p:nvPr>
        </p:nvSpPr>
        <p:spPr>
          <a:xfrm>
            <a:off x="626339" y="276689"/>
            <a:ext cx="2158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690277" y="1532076"/>
            <a:ext cx="3604500" cy="189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6" name="Google Shape;26;p5"/>
          <p:cNvSpPr/>
          <p:nvPr/>
        </p:nvSpPr>
        <p:spPr>
          <a:xfrm>
            <a:off x="-37546" y="596369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ingle column image">
  <p:cSld name="CUSTOM_3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idx="1" type="subTitle"/>
          </p:nvPr>
        </p:nvSpPr>
        <p:spPr>
          <a:xfrm>
            <a:off x="626339" y="276689"/>
            <a:ext cx="2158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29" name="Google Shape;29;p6"/>
          <p:cNvSpPr txBox="1"/>
          <p:nvPr>
            <p:ph idx="2" type="body"/>
          </p:nvPr>
        </p:nvSpPr>
        <p:spPr>
          <a:xfrm>
            <a:off x="690334" y="2051913"/>
            <a:ext cx="4020300" cy="142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6"/>
          <p:cNvSpPr/>
          <p:nvPr/>
        </p:nvSpPr>
        <p:spPr>
          <a:xfrm>
            <a:off x="-37546" y="1635547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6"/>
          <p:cNvSpPr txBox="1"/>
          <p:nvPr>
            <p:ph type="title"/>
          </p:nvPr>
        </p:nvSpPr>
        <p:spPr>
          <a:xfrm>
            <a:off x="626339" y="784076"/>
            <a:ext cx="78672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1" sz="29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32" name="Google Shape;32;p6"/>
          <p:cNvSpPr txBox="1"/>
          <p:nvPr>
            <p:ph idx="3" type="subTitle"/>
          </p:nvPr>
        </p:nvSpPr>
        <p:spPr>
          <a:xfrm>
            <a:off x="626339" y="1224289"/>
            <a:ext cx="7867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  <a:defRPr sz="1500">
                <a:solidFill>
                  <a:srgbClr val="1B1B1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wo columns">
  <p:cSld name="CUSTOM_4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" type="subTitle"/>
          </p:nvPr>
        </p:nvSpPr>
        <p:spPr>
          <a:xfrm>
            <a:off x="626339" y="276689"/>
            <a:ext cx="21588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  <a:defRPr b="1" sz="1000">
                <a:solidFill>
                  <a:srgbClr val="1B1B1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35" name="Google Shape;35;p7"/>
          <p:cNvSpPr txBox="1"/>
          <p:nvPr>
            <p:ph idx="2" type="body"/>
          </p:nvPr>
        </p:nvSpPr>
        <p:spPr>
          <a:xfrm>
            <a:off x="4844001" y="2051981"/>
            <a:ext cx="36495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3" type="body"/>
          </p:nvPr>
        </p:nvSpPr>
        <p:spPr>
          <a:xfrm>
            <a:off x="674437" y="2051981"/>
            <a:ext cx="3649500" cy="26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-228600" lvl="0" marL="457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405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  <a:defRPr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7"/>
          <p:cNvSpPr/>
          <p:nvPr/>
        </p:nvSpPr>
        <p:spPr>
          <a:xfrm>
            <a:off x="-37546" y="1635547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7"/>
          <p:cNvSpPr txBox="1"/>
          <p:nvPr>
            <p:ph type="title"/>
          </p:nvPr>
        </p:nvSpPr>
        <p:spPr>
          <a:xfrm>
            <a:off x="626339" y="784076"/>
            <a:ext cx="7867200" cy="48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b="1" sz="2900">
                <a:solidFill>
                  <a:srgbClr val="1B1B1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39" name="Google Shape;39;p7"/>
          <p:cNvSpPr txBox="1"/>
          <p:nvPr>
            <p:ph idx="4" type="subTitle"/>
          </p:nvPr>
        </p:nvSpPr>
        <p:spPr>
          <a:xfrm>
            <a:off x="626339" y="1224289"/>
            <a:ext cx="7867200" cy="319500"/>
          </a:xfrm>
          <a:prstGeom prst="rect">
            <a:avLst/>
          </a:prstGeom>
          <a:noFill/>
          <a:ln>
            <a:noFill/>
          </a:ln>
        </p:spPr>
        <p:txBody>
          <a:bodyPr anchorCtr="0" anchor="b" bIns="41575" lIns="41575" spcFirstLastPara="1" rIns="41575" wrap="square" tIns="41575"/>
          <a:lstStyle>
            <a:lvl1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500">
                <a:solidFill>
                  <a:srgbClr val="1B1B1D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">
  <p:cSld name="CUSTOM_5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/>
          <p:nvPr/>
        </p:nvSpPr>
        <p:spPr>
          <a:xfrm>
            <a:off x="0" y="0"/>
            <a:ext cx="9144000" cy="5143200"/>
          </a:xfrm>
          <a:custGeom>
            <a:rect b="b" l="l" r="r" t="t"/>
            <a:pathLst>
              <a:path extrusionOk="0" h="120000" w="120000">
                <a:moveTo>
                  <a:pt x="0" y="119998"/>
                </a:moveTo>
                <a:lnTo>
                  <a:pt x="119999" y="119998"/>
                </a:lnTo>
                <a:lnTo>
                  <a:pt x="119999" y="0"/>
                </a:lnTo>
                <a:lnTo>
                  <a:pt x="0" y="0"/>
                </a:lnTo>
                <a:lnTo>
                  <a:pt x="0" y="119998"/>
                </a:lnTo>
                <a:close/>
              </a:path>
            </a:pathLst>
          </a:custGeom>
          <a:solidFill>
            <a:srgbClr val="1B1B1D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8"/>
          <p:cNvSpPr txBox="1"/>
          <p:nvPr/>
        </p:nvSpPr>
        <p:spPr>
          <a:xfrm>
            <a:off x="0" y="0"/>
            <a:ext cx="9144000" cy="51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276675">
            <a:noAutofit/>
          </a:bodyPr>
          <a:lstStyle/>
          <a:p>
            <a:pPr indent="0" lvl="0" marL="622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TeleSoftas </a:t>
            </a:r>
            <a:r>
              <a:rPr lang="en-GB" sz="1000">
                <a:solidFill>
                  <a:srgbClr val="1B1B1D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- Empowering innovation</a:t>
            </a:r>
            <a:r>
              <a:rPr b="1" lang="en-GB" sz="1000">
                <a:solidFill>
                  <a:srgbClr val="1B1B1D"/>
                </a:solidFill>
                <a:latin typeface="Work Sans"/>
                <a:ea typeface="Work Sans"/>
                <a:cs typeface="Work Sans"/>
                <a:sym typeface="Work Sans"/>
              </a:rPr>
              <a:t>	1</a:t>
            </a:r>
            <a:endParaRPr sz="1000">
              <a:solidFill>
                <a:schemeClr val="dk1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sp>
        <p:nvSpPr>
          <p:cNvPr id="43" name="Google Shape;43;p8"/>
          <p:cNvSpPr txBox="1"/>
          <p:nvPr>
            <p:ph idx="1" type="subTitle"/>
          </p:nvPr>
        </p:nvSpPr>
        <p:spPr>
          <a:xfrm>
            <a:off x="2866310" y="2969462"/>
            <a:ext cx="3377100" cy="1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44" name="Google Shape;44;p8"/>
          <p:cNvSpPr txBox="1"/>
          <p:nvPr>
            <p:ph type="title"/>
          </p:nvPr>
        </p:nvSpPr>
        <p:spPr>
          <a:xfrm>
            <a:off x="2864672" y="1814302"/>
            <a:ext cx="3377100" cy="8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1575" lIns="41575" spcFirstLastPara="1" rIns="41575" wrap="square" tIns="41575"/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600"/>
            </a:lvl9pPr>
          </a:lstStyle>
          <a:p/>
        </p:txBody>
      </p:sp>
      <p:sp>
        <p:nvSpPr>
          <p:cNvPr id="45" name="Google Shape;45;p8"/>
          <p:cNvSpPr/>
          <p:nvPr/>
        </p:nvSpPr>
        <p:spPr>
          <a:xfrm>
            <a:off x="3724278" y="790519"/>
            <a:ext cx="1695300" cy="402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8"/>
          <p:cNvSpPr/>
          <p:nvPr/>
        </p:nvSpPr>
        <p:spPr>
          <a:xfrm>
            <a:off x="7725900" y="734992"/>
            <a:ext cx="2600100" cy="2586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8"/>
          <p:cNvSpPr/>
          <p:nvPr/>
        </p:nvSpPr>
        <p:spPr>
          <a:xfrm>
            <a:off x="-37546" y="4668815"/>
            <a:ext cx="9181500" cy="35100"/>
          </a:xfrm>
          <a:prstGeom prst="rect">
            <a:avLst/>
          </a:prstGeom>
          <a:solidFill>
            <a:srgbClr val="FF6A14"/>
          </a:solidFill>
          <a:ln>
            <a:noFill/>
          </a:ln>
        </p:spPr>
        <p:txBody>
          <a:bodyPr anchorCtr="0" anchor="ctr" bIns="20775" lIns="41575" spcFirstLastPara="1" rIns="41575" wrap="square" tIns="207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8"/>
          <p:cNvSpPr/>
          <p:nvPr/>
        </p:nvSpPr>
        <p:spPr>
          <a:xfrm rot="10800000">
            <a:off x="-1149828" y="2433030"/>
            <a:ext cx="2600100" cy="2586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/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Char char="●"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Char char="○"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Char char="■"/>
              <a:defRPr sz="5200"/>
            </a:lvl9pPr>
          </a:lstStyle>
          <a:p/>
        </p:txBody>
      </p:sp>
      <p:sp>
        <p:nvSpPr>
          <p:cNvPr id="51" name="Google Shape;5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2" name="Google Shape;5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/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oogle.github.io/dagger/testing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insert-koin.io/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2864672" y="1814302"/>
            <a:ext cx="3377100" cy="8538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Dagger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+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Android contributions</a:t>
            </a:r>
            <a:endParaRPr/>
          </a:p>
        </p:txBody>
      </p:sp>
      <p:sp>
        <p:nvSpPr>
          <p:cNvPr id="62" name="Google Shape;62;p11"/>
          <p:cNvSpPr txBox="1"/>
          <p:nvPr>
            <p:ph idx="1" type="subTitle"/>
          </p:nvPr>
        </p:nvSpPr>
        <p:spPr>
          <a:xfrm>
            <a:off x="2866310" y="3655262"/>
            <a:ext cx="3377100" cy="1716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Sigitas Atkočaitis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</a:t>
            </a:r>
            <a:r>
              <a:rPr lang="en-GB">
                <a:solidFill>
                  <a:schemeClr val="lt1"/>
                </a:solidFill>
              </a:rPr>
              <a:t> Dagger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3"/>
          <p:cNvSpPr txBox="1"/>
          <p:nvPr>
            <p:ph idx="1" type="body"/>
          </p:nvPr>
        </p:nvSpPr>
        <p:spPr>
          <a:xfrm>
            <a:off x="613300" y="0"/>
            <a:ext cx="8530800" cy="51435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fun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setUpInjection() {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navigator = Navigator()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locationPermissionManager = LocationPermissionManager(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latLngMapper = LatLngMapperImpl()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converter = BitmapDescriptorConverter(resources)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markerGenerator = MarkerGeneratorImpl(latLngMapper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converter)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adapter = MarkerInfoWindowAdapter(activity!!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.layoutInflater)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clusterIconProvider = ClusterIconProviderImpl(converter)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map = PharmaciesMapHolder(markerGenerator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latLngMapper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adapter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this,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clusterIconProvider)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retriever = DependencyRetriever.from(context!!)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service = retriever.getService(LoadPharmaciesService::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.java)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dbHelper = DependencyRetriever.from(context!!).databaseHelper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pharmaciesRepository = PharmaciesRepositoryImpl(dbHelper)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prefRepository = PreferenceRepository(context!!)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expireModel = PharmaciesExpireModelImpl(prefRepository)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pharmaciesModel = LoadPharmaciesModelImpl(service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pharmaciesRepository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expireModel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Schedulers.io())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locationService = DefaultLocationService(context!!)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model = PharmaciesMapModelImpl(locationService!!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pharmaciesModel)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resolver = NetworkErrorResolver(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DefaultNetworkErrorMessenger(resources))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presenter = PharmaciesMapPresenterImpl(model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AndroidSchedulers.mainThread()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resolver)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8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613300" y="0"/>
            <a:ext cx="8530800" cy="51435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storageFactory = PreferenceStorageFactory()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antennaStorage =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Antenna::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amplifierStorage =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Amplifier::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attenuationStorage =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Attenuation::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antennaRepository = AntennaRepository(antennaStorage)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amplifierRepository = AmplifierRepository(amplifierStorage)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attenuationRepository = AttenuationRepository(attenuationStorage)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bandRegionStorage =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colorRangeStorage =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ColorRange::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colorRepository = ColorRepositoryImpl(colorRangeStorage)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audioToneStorage =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AudioTone::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audioToneRepository = AudioToneRepository(audioToneStorage)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logDirRepository = SessionDirRepositoryImpl(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String::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tileDirRepository = TilesDirRepository(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String::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formStorage =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SettingsForm::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bandRegionHolderStorage =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BandRegionHolder::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bandListProvider = DefaultBandListProvider()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bandRegionRepository =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BandRegionListRepositoryImpl(bandRegionStorage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bandRegionHolderStorage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bandListProvider)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settingsFormRepository = SettingsFormRepositoryImpl(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antennaRepository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amplifierRepository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attenuationRepository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audioToneRepository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colorRepository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logDirRepository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tileDirRepository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formStorage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78" name="Google Shape;78;p14"/>
          <p:cNvSpPr txBox="1"/>
          <p:nvPr>
            <p:ph idx="1" type="body"/>
          </p:nvPr>
        </p:nvSpPr>
        <p:spPr>
          <a:xfrm>
            <a:off x="4811650" y="0"/>
            <a:ext cx="7456800" cy="51435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computationScheduler = Schedulers.computation()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mainScheduler = AndroidSchedulers.mainThread()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model = SettingsFragmentModel(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bandRegionRepository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antennaRepository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amplifierRepository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attenuationRepository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colorRepository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audioToneRepository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formProvider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settingsFormRepository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computationScheduler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calculator = AutoColorRangeCalculatorImpl()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selectedListStorage =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storageFactory.create(context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BandRegionHolder::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bandRegionListRepository =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BandRegionListRepositoryImpl(bandRegionStorage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selectedListStorage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bandListProvider)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SettingsFragmentPresenter(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model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calculator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mainScheduler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updateChecker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SeewaveApplication.getRecorderManager(context).getFileManager()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7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bandRegionListRepository</a:t>
            </a:r>
            <a:endParaRPr sz="7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7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en-GB" sz="7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7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613308" y="3151553"/>
            <a:ext cx="4513200" cy="9609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More Testable Code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More Readable Code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More Reusable Code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Reduced Dependency Carrying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5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Why Dagger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Main Dagger parts</a:t>
            </a:r>
            <a:endParaRPr/>
          </a:p>
        </p:txBody>
      </p:sp>
      <p:sp>
        <p:nvSpPr>
          <p:cNvPr id="90" name="Google Shape;90;p16"/>
          <p:cNvSpPr txBox="1"/>
          <p:nvPr>
            <p:ph idx="1" type="body"/>
          </p:nvPr>
        </p:nvSpPr>
        <p:spPr>
          <a:xfrm>
            <a:off x="613300" y="2343575"/>
            <a:ext cx="6881400" cy="17688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15"/>
              </a:buClr>
              <a:buSzPts val="2400"/>
              <a:buChar char="●"/>
            </a:pPr>
            <a:r>
              <a:rPr lang="en-GB" sz="2400">
                <a:solidFill>
                  <a:srgbClr val="FF6B15"/>
                </a:solidFill>
                <a:latin typeface="Courier New"/>
                <a:ea typeface="Courier New"/>
                <a:cs typeface="Courier New"/>
                <a:sym typeface="Courier New"/>
              </a:rPr>
              <a:t>@Component</a:t>
            </a:r>
            <a:endParaRPr sz="2400">
              <a:solidFill>
                <a:srgbClr val="FF6B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15"/>
              </a:buClr>
              <a:buSzPts val="2400"/>
              <a:buChar char="●"/>
            </a:pPr>
            <a:r>
              <a:rPr lang="en-GB" sz="2400">
                <a:solidFill>
                  <a:srgbClr val="FF6B15"/>
                </a:solidFill>
                <a:latin typeface="Courier New"/>
                <a:ea typeface="Courier New"/>
                <a:cs typeface="Courier New"/>
                <a:sym typeface="Courier New"/>
              </a:rPr>
              <a:t>@SubComponent</a:t>
            </a:r>
            <a:endParaRPr sz="2400">
              <a:solidFill>
                <a:srgbClr val="FF6B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15"/>
              </a:buClr>
              <a:buSzPts val="2400"/>
              <a:buChar char="●"/>
            </a:pPr>
            <a:r>
              <a:rPr lang="en-GB" sz="2400">
                <a:solidFill>
                  <a:srgbClr val="FF6B15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2400">
              <a:solidFill>
                <a:srgbClr val="FF6B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6B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6B15"/>
              </a:buClr>
              <a:buSzPts val="2400"/>
              <a:buChar char="●"/>
            </a:pPr>
            <a:r>
              <a:rPr lang="en-GB" sz="2400">
                <a:solidFill>
                  <a:srgbClr val="FF6B15"/>
                </a:solidFill>
                <a:latin typeface="Courier New"/>
                <a:ea typeface="Courier New"/>
                <a:cs typeface="Courier New"/>
                <a:sym typeface="Courier New"/>
              </a:rPr>
              <a:t>@ContributesAndroidInjector</a:t>
            </a:r>
            <a:endParaRPr sz="2400">
              <a:solidFill>
                <a:srgbClr val="FF6B15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6B15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613300" y="0"/>
            <a:ext cx="8530800" cy="51435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@DaggerScope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(BaseApplication::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@Component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50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modules =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AndroidSupportInjectionModule::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ActivitiesModule::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SchedulerModule::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NetworkModule::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ImageModule::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AppComponent : AndroidInjector&lt;BaseApplication&gt; {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@Component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.Builder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Builder : AndroidInjector.Builder&lt;BaseApplication&gt;()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open class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BaseApplication : DaggerApplication() {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override fun </a:t>
            </a:r>
            <a:r>
              <a:rPr lang="en-GB" sz="135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applicationInjector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(): AndroidInjector&lt;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out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DaggerApplication&gt; =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CC0000"/>
                </a:solidFill>
                <a:latin typeface="Courier New"/>
                <a:ea typeface="Courier New"/>
                <a:cs typeface="Courier New"/>
                <a:sym typeface="Courier New"/>
              </a:rPr>
              <a:t>DaggerAppComponent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.builder().create(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@Binds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abstract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bindContext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(app: BaseApplication): Context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companion object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@JvmStatic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@Provides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provideResources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(context: Context): Resources = context.</a:t>
            </a:r>
            <a:r>
              <a:rPr i="1"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resources</a:t>
            </a:r>
            <a:endParaRPr i="1" sz="1300">
              <a:solidFill>
                <a:srgbClr val="9876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SchedulerModule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companion object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@JvmStatic @Provides </a:t>
            </a: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@MainThread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provideMainScheduler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(): Scheduler = AndroidSchedulers.mainThread()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@JvmStatic @Provides </a:t>
            </a: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@ComputationThread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provideComputationScheduler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(): Scheduler = Schedulers.computation()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@JvmStatic @Provides </a:t>
            </a: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@IoThread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provideIoScheduler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(): Scheduler = Schedulers.io()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@JvmStatic @Provides </a:t>
            </a: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@NetworkThread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provideIoScheduler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(): Scheduler = Schedulers.io()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@Qualifier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annotation class </a:t>
            </a: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NetworkThread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ImageModule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@Binds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@Reusable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abstract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bindImageLoader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(loader: GlideImageLoader): ImageLoader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NetworkModule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companion object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...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@JvmStatic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@Provides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@DaggerScope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(BaseApplication::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provideRetrofitClient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@NetworkThread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networkScheduler: Scheduler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): Retrofit = Retrofit.Builder()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.addCallAdapterFactory(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RxJava2CallAdapterFactory.createWithScheduler(networkScheduler)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.baseUrl(BuildConfig.</a:t>
            </a:r>
            <a:r>
              <a:rPr i="1" lang="en-GB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API_ENDPOINT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.build()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@Scope annotation class DaggerScope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val </a:t>
            </a:r>
            <a:r>
              <a:rPr lang="en-GB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value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: KClass&lt;*&gt;)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ActivitiesModule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@DaggerScope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(MainActivity::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@ContributesAndroidInjector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00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modules =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[MainActivityModule::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bindMainActivity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(): MainActivity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MainActivity : DaggerAppCompatActivity(){ ... }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@dagger.Module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MainActivityModule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@DaggerScope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(MainFragment::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@ContributesAndroidInjector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00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modules =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[MainScreen.Module::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bindArticleListFragment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(): MainFragment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object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MainScreen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MainPresenter : BasePresenter&lt;MainScreen.View&gt; {...}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View {...}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@dagger.Module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@Binds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@DaggerScope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(MainFragment::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bindPresenter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(presenter: MainPresenterImpl): MainPresenter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@dagger.Module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companion object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@Provides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@JvmStatic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@DaggerScope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(MainFragment::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provideService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(retrofit: Retrofit) = retrofit.</a:t>
            </a:r>
            <a:r>
              <a:rPr i="1"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&lt;NewsService&gt;()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MainPresenterImpl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@Inject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val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service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: NewsService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@MainThread private val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: Scheduler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 : BasePresenterImpl&lt;MainScreen.View&gt;()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MainScreen.MainPresenter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MainFragment : DaggerFragment()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MainScreen.View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@Inject lateinit var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presenter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: MainScreen.MainPresenter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override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onCreateView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(...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): View?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...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presenter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.takeView(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fragmentView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6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Unit tests</a:t>
            </a:r>
            <a:endParaRPr/>
          </a:p>
        </p:txBody>
      </p:sp>
      <p:sp>
        <p:nvSpPr>
          <p:cNvPr id="141" name="Google Shape;141;p26"/>
          <p:cNvSpPr txBox="1"/>
          <p:nvPr>
            <p:ph idx="1" type="body"/>
          </p:nvPr>
        </p:nvSpPr>
        <p:spPr>
          <a:xfrm>
            <a:off x="613308" y="2389553"/>
            <a:ext cx="4513200" cy="9609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marR="0" rtl="0" algn="l">
              <a:lnSpc>
                <a:spcPct val="1321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You don’t have to use Dagger for single-class unit tests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 you want to write a small unit test that tests only one @Inject-annotated class, you don’t need to use Dagger to instantiate that class. If you want to write a traditional unit test, you can directly call the @Inject-annotated constructor and methods and set the @Inject-annotated fields, if any, passing fake or mock dependencies directly, just as you would if they weren’t annotated.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4A86E8"/>
                </a:solidFill>
                <a:uFill>
                  <a:noFill/>
                </a:uFill>
                <a:hlinkClick r:id="rId3"/>
              </a:rPr>
              <a:t>https://google.github.io/dagger/testing</a:t>
            </a:r>
            <a:endParaRPr>
              <a:solidFill>
                <a:srgbClr val="4A86E8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7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MainPresenterImplTest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val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service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i="1"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mock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&lt;NewsService&gt;()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val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view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i="1"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mock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&lt;MainScreen.View&gt;()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val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scheduler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TestScheduler()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val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presenter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MainPresenterImpl(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service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val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articles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</a:t>
            </a:r>
            <a:r>
              <a:rPr i="1"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listOf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&lt;Article&gt;(</a:t>
            </a:r>
            <a:r>
              <a:rPr i="1"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mock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val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articlesResponse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ArticlesResponse(</a:t>
            </a:r>
            <a:r>
              <a:rPr lang="en-GB" sz="1300">
                <a:solidFill>
                  <a:srgbClr val="6A8759"/>
                </a:solidFill>
                <a:latin typeface="Courier New"/>
                <a:ea typeface="Courier New"/>
                <a:cs typeface="Courier New"/>
                <a:sym typeface="Courier New"/>
              </a:rPr>
              <a:t>"200"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00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articles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@Test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exampleUnitTest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given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service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.getArticleList()).willReturn(Single.just(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articlesResponse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presenter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.takeView(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presenter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.onViewCreated()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scheduler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.triggerActions()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i="1"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verify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view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).showArticles(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articles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Instrumentation testing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613308" y="3151553"/>
            <a:ext cx="4513200" cy="9609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@DaggerScope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(BaseApplication::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@Component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modules =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AndroidSupportInjectionModule::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InstrumentationModule</a:t>
            </a:r>
            <a:r>
              <a:rPr b="1"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::</a:t>
            </a: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AppModule::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ActivitiesModule::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InstrumentationSchedulerModule::</a:t>
            </a:r>
            <a:r>
              <a:rPr b="1"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b="1"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NetworkModule::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ImageModule::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TestAppComponent : AndroidInjector&lt;TestBaseApplication&gt;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@Component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.Builder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Builder : AndroidInjector.Builder&lt;TestBaseApplication&gt;()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0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open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TestApplicationRunner : AndroidJUnitRunner()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@Throws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(Exception::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override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newApplication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(loader: ClassLoader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className: String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context: Context): Application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return super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.newApplication(loader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TestBaseApplication::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name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context)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TestBaseApplication : BaseApplication()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override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applicationInjector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(): AndroidInjector&lt;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out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DaggerApplication&gt;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return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DaggerTestAppComponent.builder().create(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InstrumentationSchedulerModule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companion object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...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@JvmStatic @NetworkThread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@Provides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provideNetworkScheduler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(executor: IdlingThreadPoolExecutor): Scheduler = Schedulers.from(executor)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@JvmStatic @Provides @DaggerScope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(BaseApplication::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provideIdlingThreadPoolExecutor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(): IdlingThreadPoolExecutor =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IdlingThreadPoolExecutor(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ExampleInstrumentedTest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@get:Rule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var </a:t>
            </a:r>
            <a:r>
              <a:rPr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rule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ActivityTestRule(MainActivity::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</a:t>
            </a:r>
            <a:r>
              <a:rPr i="1"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java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@Test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exampleTest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onView(withId(R.id.</a:t>
            </a:r>
            <a:r>
              <a:rPr i="1"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listRecyclerView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)).check(matches(hasMinimumChildCount(</a:t>
            </a:r>
            <a:r>
              <a:rPr lang="en-GB" sz="1300">
                <a:solidFill>
                  <a:srgbClr val="6897BB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)))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onView(withId(R.id.</a:t>
            </a:r>
            <a:r>
              <a:rPr i="1"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listRecyclerView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)).perform(ViewActions.swipeUp())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3"/>
          <p:cNvSpPr txBox="1"/>
          <p:nvPr>
            <p:ph type="title"/>
          </p:nvPr>
        </p:nvSpPr>
        <p:spPr>
          <a:xfrm>
            <a:off x="613353" y="891227"/>
            <a:ext cx="4894500" cy="11430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Alternative: Koin.io</a:t>
            </a:r>
            <a:endParaRPr/>
          </a:p>
        </p:txBody>
      </p:sp>
      <p:sp>
        <p:nvSpPr>
          <p:cNvPr id="178" name="Google Shape;178;p33"/>
          <p:cNvSpPr txBox="1"/>
          <p:nvPr>
            <p:ph idx="1" type="body"/>
          </p:nvPr>
        </p:nvSpPr>
        <p:spPr>
          <a:xfrm>
            <a:off x="613308" y="3151553"/>
            <a:ext cx="4513200" cy="9609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u="sng">
                <a:solidFill>
                  <a:schemeClr val="hlink"/>
                </a:solidFill>
                <a:hlinkClick r:id="rId3"/>
              </a:rPr>
              <a:t>https://insert-koin.io/</a:t>
            </a:r>
            <a:endParaRPr sz="24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4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@DaggerScope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(BaseApplication::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@Component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50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modules =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[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AndroidSupportInjectionModule::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ActivitiesModule::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SchedulerModule::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NetworkModule::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class,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ImageModule::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endParaRPr sz="135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interface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AppComponent : AndroidInjector&lt;BaseApplication&gt; {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@Component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.Builder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5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Builder : AndroidInjector.Builder&lt;BaseApplication&gt;()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5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5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5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open class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BaseApplication : Application() {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override fun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onCreate() {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startKoin(KoinApplication.create().apply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androidLogger(Level.DEBUG)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androidContext(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this</a:t>
            </a:r>
            <a:r>
              <a:rPr lang="en-GB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@BaseApplication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modules(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PluginsModule()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AppModule()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SchedulerModule()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NetworkModule()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ImageModule()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MainScreen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.Module()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@Binds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abstract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bindContext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(app: BaseApplication): Context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companion object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@JvmStatic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@Provides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provideResources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(context: Context): Resources = context.</a:t>
            </a:r>
            <a:r>
              <a:rPr i="1"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resources</a:t>
            </a:r>
            <a:endParaRPr i="1" sz="1300">
              <a:solidFill>
                <a:srgbClr val="9876AA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1300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AppModule() = module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single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androidContext().resources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8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@dagger.Module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@Binds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@DaggerScope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(MainFragment::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bindPresenter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(presenter: MainPresenterImpl): MainPresenter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@dagger.Module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companion object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@Provides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@JvmStatic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@DaggerScope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(MainFragment::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provideService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(retrofit: Retrofit) = retrofit.</a:t>
            </a:r>
            <a:r>
              <a:rPr i="1"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&lt;NewsService&gt;()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9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AppModule()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module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single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androidContext().resources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Module() = module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factory&lt;Presenter&gt;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MainPresenter(</a:t>
            </a:r>
            <a:r>
              <a:rPr lang="en-GB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service =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get()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scheduler =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get(</a:t>
            </a:r>
            <a:r>
              <a:rPr lang="en-GB">
                <a:solidFill>
                  <a:srgbClr val="6A8759"/>
                </a:solidFill>
                <a:latin typeface="Courier New"/>
                <a:ea typeface="Courier New"/>
                <a:cs typeface="Courier New"/>
                <a:sym typeface="Courier New"/>
              </a:rPr>
              <a:t>"main"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f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actory&lt;</a:t>
            </a:r>
            <a:r>
              <a:rPr lang="en-GB" sz="13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NewsService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get&lt;Retrofit&gt;()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.create()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0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abstract class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NetworkModule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private constructor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() 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@Module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companion object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@JvmStatic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@Provides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@DaggerScope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(BaseApplication::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 sz="1300">
                <a:solidFill>
                  <a:srgbClr val="FFC66D"/>
                </a:solidFill>
                <a:latin typeface="Courier New"/>
                <a:ea typeface="Courier New"/>
                <a:cs typeface="Courier New"/>
                <a:sym typeface="Courier New"/>
              </a:rPr>
              <a:t>provideRetrofitClient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@NetworkThread </a:t>
            </a: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networkScheduler: Scheduler</a:t>
            </a:r>
            <a:endParaRPr sz="1300">
              <a:solidFill>
                <a:srgbClr val="CC7832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):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Retrofit = Retrofit.Builder()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.addCallAdapterFactory(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RxJava2CallAdapterFactory.createWithScheduler(networkScheduler)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.baseUrl(BuildConfig.</a:t>
            </a:r>
            <a:r>
              <a:rPr i="1" lang="en-GB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API_ENDPOINT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.build()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300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300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1"/>
          <p:cNvSpPr txBox="1"/>
          <p:nvPr>
            <p:ph idx="1" type="body"/>
          </p:nvPr>
        </p:nvSpPr>
        <p:spPr>
          <a:xfrm>
            <a:off x="613300" y="0"/>
            <a:ext cx="8530800" cy="41124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AppModule()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= module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single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androidContext().resources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Module() = module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factory&lt;Presenter&gt;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MainPresenter(</a:t>
            </a:r>
            <a:r>
              <a:rPr lang="en-GB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service =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get()</a:t>
            </a: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-GB">
                <a:solidFill>
                  <a:srgbClr val="467CDA"/>
                </a:solidFill>
                <a:latin typeface="Courier New"/>
                <a:ea typeface="Courier New"/>
                <a:cs typeface="Courier New"/>
                <a:sym typeface="Courier New"/>
              </a:rPr>
              <a:t>scheduler =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get(</a:t>
            </a:r>
            <a:r>
              <a:rPr lang="en-GB">
                <a:solidFill>
                  <a:srgbClr val="6A8759"/>
                </a:solidFill>
                <a:latin typeface="Courier New"/>
                <a:ea typeface="Courier New"/>
                <a:cs typeface="Courier New"/>
                <a:sym typeface="Courier New"/>
              </a:rPr>
              <a:t>"main"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))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factory&lt;</a:t>
            </a:r>
            <a:r>
              <a:rPr lang="en-GB" sz="1300">
                <a:solidFill>
                  <a:srgbClr val="A9B7C6"/>
                </a:solidFill>
                <a:highlight>
                  <a:srgbClr val="2B2B2B"/>
                </a:highlight>
                <a:latin typeface="Courier New"/>
                <a:ea typeface="Courier New"/>
                <a:cs typeface="Courier New"/>
                <a:sym typeface="Courier New"/>
              </a:rPr>
              <a:t>NewsService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{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get&lt;Retrofit&gt;().create()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CC7832"/>
                </a:solidFill>
                <a:latin typeface="Courier New"/>
                <a:ea typeface="Courier New"/>
                <a:cs typeface="Courier New"/>
                <a:sym typeface="Courier New"/>
              </a:rPr>
              <a:t>fun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NetworkModule() = module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single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Retrofit = Retrofit.Builder()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.addCallAdapterFactory(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RxJava2CallAdapterFactory.createWithScheduler(get(</a:t>
            </a:r>
            <a:r>
              <a:rPr lang="en-GB">
                <a:solidFill>
                  <a:srgbClr val="6A8759"/>
                </a:solidFill>
                <a:latin typeface="Courier New"/>
                <a:ea typeface="Courier New"/>
                <a:cs typeface="Courier New"/>
                <a:sym typeface="Courier New"/>
              </a:rPr>
              <a:t>"network"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.baseUrl(BuildConfig.</a:t>
            </a:r>
            <a:r>
              <a:rPr i="1" lang="en-GB">
                <a:solidFill>
                  <a:srgbClr val="9876AA"/>
                </a:solidFill>
                <a:latin typeface="Courier New"/>
                <a:ea typeface="Courier New"/>
                <a:cs typeface="Courier New"/>
                <a:sym typeface="Courier New"/>
              </a:rPr>
              <a:t>API_ENDPOINT</a:t>
            </a: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.build()</a:t>
            </a:r>
            <a:endParaRPr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rgbClr val="A9B7C6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b="1">
              <a:solidFill>
                <a:srgbClr val="A9B7C6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2"/>
          <p:cNvSpPr txBox="1"/>
          <p:nvPr>
            <p:ph idx="1" type="body"/>
          </p:nvPr>
        </p:nvSpPr>
        <p:spPr>
          <a:xfrm>
            <a:off x="613300" y="0"/>
            <a:ext cx="8530800" cy="5143500"/>
          </a:xfrm>
          <a:prstGeom prst="rect">
            <a:avLst/>
          </a:prstGeom>
        </p:spPr>
        <p:txBody>
          <a:bodyPr anchorCtr="0" anchor="ctr" bIns="41575" lIns="41575" spcFirstLastPara="1" rIns="41575" wrap="square" tIns="4157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</a:rPr>
              <a:t>Singleton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</a:rPr>
              <a:t>scopes based only on lifecycle, no </a:t>
            </a:r>
            <a:r>
              <a:rPr lang="en-GB" sz="1800"/>
              <a:t>hierarchy</a:t>
            </a:r>
            <a:endParaRPr sz="1800">
              <a:solidFill>
                <a:srgbClr val="FFFFF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●"/>
            </a:pPr>
            <a:r>
              <a:rPr lang="en-GB" sz="1800">
                <a:solidFill>
                  <a:srgbClr val="FFFFFF"/>
                </a:solidFill>
              </a:rPr>
              <a:t>Unstable, prone to change API</a:t>
            </a:r>
            <a:endParaRPr sz="1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3"/>
          <p:cNvSpPr txBox="1"/>
          <p:nvPr>
            <p:ph type="title"/>
          </p:nvPr>
        </p:nvSpPr>
        <p:spPr>
          <a:xfrm>
            <a:off x="3249881" y="734992"/>
            <a:ext cx="2644200" cy="462000"/>
          </a:xfrm>
          <a:prstGeom prst="rect">
            <a:avLst/>
          </a:prstGeom>
        </p:spPr>
        <p:txBody>
          <a:bodyPr anchorCtr="0" anchor="t" bIns="41575" lIns="41575" spcFirstLastPara="1" rIns="41575" wrap="square" tIns="415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lesofta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